
<file path=[Content_Types].xml><?xml version="1.0" encoding="utf-8"?>
<Types xmlns="http://schemas.openxmlformats.org/package/2006/content-types">
  <Default Extension="E767F280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97" r:id="rId2"/>
    <p:sldId id="299" r:id="rId3"/>
    <p:sldId id="293" r:id="rId4"/>
    <p:sldId id="300" r:id="rId5"/>
    <p:sldId id="313" r:id="rId6"/>
    <p:sldId id="302" r:id="rId7"/>
    <p:sldId id="304" r:id="rId8"/>
    <p:sldId id="303" r:id="rId9"/>
    <p:sldId id="314" r:id="rId10"/>
    <p:sldId id="305" r:id="rId11"/>
    <p:sldId id="315" r:id="rId12"/>
    <p:sldId id="316" r:id="rId13"/>
    <p:sldId id="307" r:id="rId14"/>
    <p:sldId id="306" r:id="rId15"/>
    <p:sldId id="294" r:id="rId16"/>
    <p:sldId id="311" r:id="rId17"/>
    <p:sldId id="312" r:id="rId18"/>
    <p:sldId id="310" r:id="rId19"/>
    <p:sldId id="286" r:id="rId20"/>
    <p:sldId id="317" r:id="rId21"/>
    <p:sldId id="265" r:id="rId22"/>
    <p:sldId id="318" r:id="rId23"/>
    <p:sldId id="31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14" autoAdjust="0"/>
    <p:restoredTop sz="92923" autoAdjust="0"/>
  </p:normalViewPr>
  <p:slideViewPr>
    <p:cSldViewPr snapToGrid="0">
      <p:cViewPr>
        <p:scale>
          <a:sx n="125" d="100"/>
          <a:sy n="125" d="100"/>
        </p:scale>
        <p:origin x="72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512646D-F6C8-F4A4-FE3F-D1204752B8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E085795-2D6D-DD09-D488-11DB557A7C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4A978-C52F-484E-9573-5665E1346E33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03D8C9-20D4-C3ED-6D72-C54EDABD76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7C59B4-A8B4-5F6B-F5FC-27823FB9B8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26AC3-17F8-4443-80C0-B32CDCFAFA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96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67FA1-3123-409C-BA4F-907191DB9AC2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50E3D-671C-4025-85F2-AE76C8BFF9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7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I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50E3D-671C-4025-85F2-AE76C8BFF96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643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4BFA-1122-F1FF-3CB0-A7C2840B1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ECB7C1-B11B-B34F-E9B5-E1611CE59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7106E18-5469-9DCE-D13D-C2E124C9E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A1C83F-E6C6-CC91-48C3-15A34D518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056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2EF55-1ED3-179C-2D57-E444F123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873382-CFA6-4B94-E722-F2D647A25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7AD5DC8-39C5-CB82-7ED1-F33720E9E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98AAE5-7BAB-DBAC-8CED-A190032ED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84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31E09-15BA-A605-CBDC-EA9B9F38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8502B36-4298-2FA2-367F-AFF201F10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E069DE1-71F8-004C-BF66-1CEE7F4B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C9D46F-1AA2-14E4-66A8-7B43F207D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979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8047-66FB-A2E4-EB5E-91C33F6C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8AFBC75-686F-36DC-EBB9-07A36F080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BA5597F-189D-2BBE-8557-1C81CC69F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B0C1FF-131B-BAE8-DF88-17DD3C756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978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2A2E5-B47C-61A0-DE4E-C07BD455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25B5CC-0F35-7520-4466-A901CF102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C2CDD8-F0A2-ACBE-86D7-ED88161B8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4F8500-839A-A386-6AF4-F429489DE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0951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293CD-AD66-7C50-B5B9-F2E00C5A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774C5D-0E1A-21EC-B7E2-ECF29E08D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66F8A8-C5F3-5FA0-4EF6-7FCC20595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720A34-44B8-DD0E-2689-9BB27243A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699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643A2-EAA3-30EA-E85E-DC950130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B69BE7C-EA40-73B7-B6DB-8FAC1A649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FD47DF-68A7-755E-301B-AF37AEAFB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62A268-A83E-E1D4-0CC0-390C80563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583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D0A7-33EE-1C8B-8BD9-062D1E337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8549E1-D26D-BF35-4EFA-391A90795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54515F-7429-07F2-E662-BABC439FB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609A2A-1269-0DCE-2E0A-AE53C1A621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214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A5DB-AD89-5ACA-1A35-8F9BB523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2502218-D73C-2095-8AA5-22D69EE94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40E75C3-74F3-9D8F-CDEE-E20354342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20A86-3454-9081-778A-FC18577BE5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161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CF782-F97A-FC83-AC4F-CA303256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CDC7E4D-B839-35EF-F267-D28679368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E52DCD-EDC5-2BB1-3F9A-A5C816388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FEFEA4-097F-E93B-9B42-AB3058520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040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FA65-DA93-184B-9E7C-D20553F4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2F9DF7-B54A-74BA-10A8-53A89EF57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92D0D4-A4EF-E84F-7DC7-9086CAE50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E01AB8-8F52-EA66-14F1-CA229B4A47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396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29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DF09-943C-D71C-63E2-D109E537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B8FA45A-A4BD-4E05-E732-BCDBDED5E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D7F6D37-731E-3558-EAD6-1A1E2A568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33F817-D306-97CA-C790-049D6A043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299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1C44F-E293-A4AE-0030-2D8952A7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0E6817-4F1F-E0BA-BB0A-6B00AE27F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96A01C4-9946-B3C7-D2B4-7567856EE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23837D-B7DE-11EC-F10A-04AEBA17B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025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D897-FFA0-2316-037B-CB9C3D65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437C91-262E-561F-EF65-4488B6240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C54E498-09E6-6C3F-7A8B-ACB3539E0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F85454-C096-62D9-AB5A-A38C779AC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336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59ADC-94F9-40E5-9A3E-95766F992186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97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5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94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20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436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006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52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47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78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83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84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536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6407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0857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822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276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064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18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I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1E8BF-0A2E-49A2-868B-906D8EA45320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7EA79-94E9-4ACF-953B-F12CA445C5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01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767F280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767F280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B329F97-B648-459D-8744-0ADC071AF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6BCFEC6-C386-42A7-9252-15678A3A248B}"/>
              </a:ext>
            </a:extLst>
          </p:cNvPr>
          <p:cNvSpPr/>
          <p:nvPr/>
        </p:nvSpPr>
        <p:spPr>
          <a:xfrm>
            <a:off x="2095948" y="579555"/>
            <a:ext cx="8109054" cy="234870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RAPPORT D’AUDIT ENVIRONNEMENTAL DE   </a:t>
            </a:r>
          </a:p>
          <a:p>
            <a:pPr algn="ctr"/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804F6FF-B259-4D29-90FE-1B201DEC3C1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53" y="187670"/>
            <a:ext cx="1867348" cy="1114744"/>
          </a:xfrm>
          <a:prstGeom prst="rect">
            <a:avLst/>
          </a:prstGeom>
        </p:spPr>
      </p:pic>
      <p:pic>
        <p:nvPicPr>
          <p:cNvPr id="3" name="Image 2" descr="Une image contenant clipartDescription générée automatiquement">
            <a:extLst>
              <a:ext uri="{FF2B5EF4-FFF2-40B4-BE49-F238E27FC236}">
                <a16:creationId xmlns:a16="http://schemas.microsoft.com/office/drawing/2014/main" id="{E1B18140-A2C4-C8EA-7C0D-7606B0EBE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999" y="187670"/>
            <a:ext cx="1630189" cy="11147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9D7FDF0-4B69-12C0-9604-288B91620528}"/>
              </a:ext>
            </a:extLst>
          </p:cNvPr>
          <p:cNvSpPr txBox="1"/>
          <p:nvPr/>
        </p:nvSpPr>
        <p:spPr>
          <a:xfrm>
            <a:off x="2884761" y="1753906"/>
            <a:ext cx="65314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fr-FR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INS_CODE   INS_NOM</a:t>
            </a:r>
          </a:p>
          <a:p>
            <a:pPr algn="ctr"/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4201444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7871E39-587B-6E9D-8881-3D7202FA7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593148"/>
              </p:ext>
            </p:extLst>
          </p:nvPr>
        </p:nvGraphicFramePr>
        <p:xfrm>
          <a:off x="835439" y="1278336"/>
          <a:ext cx="5143500" cy="34005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3904">
                  <a:extLst>
                    <a:ext uri="{9D8B030D-6E8A-4147-A177-3AD203B41FA5}">
                      <a16:colId xmlns:a16="http://schemas.microsoft.com/office/drawing/2014/main" val="2430580122"/>
                    </a:ext>
                  </a:extLst>
                </a:gridCol>
                <a:gridCol w="2489596">
                  <a:extLst>
                    <a:ext uri="{9D8B030D-6E8A-4147-A177-3AD203B41FA5}">
                      <a16:colId xmlns:a16="http://schemas.microsoft.com/office/drawing/2014/main" val="921165396"/>
                    </a:ext>
                  </a:extLst>
                </a:gridCol>
              </a:tblGrid>
              <a:tr h="661291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u="none" strike="noStrike" dirty="0">
                          <a:effectLst/>
                          <a:latin typeface="Bahnschrift SemiBold SemiConden" panose="020B0502040204020203" pitchFamily="34" charset="0"/>
                        </a:rPr>
                        <a:t>NOM DU SITE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>
                        <a:solidFill>
                          <a:srgbClr val="FF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0517746"/>
                  </a:ext>
                </a:extLst>
              </a:tr>
              <a:tr h="701581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u="none" strike="noStrike" dirty="0">
                          <a:effectLst/>
                          <a:latin typeface="Bahnschrift SemiBold SemiConden" panose="020B0502040204020203" pitchFamily="34" charset="0"/>
                        </a:rPr>
                        <a:t>CODE SITE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800" b="1" i="0" u="none" strike="noStrike" dirty="0">
                        <a:solidFill>
                          <a:srgbClr val="FF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774248"/>
                  </a:ext>
                </a:extLst>
              </a:tr>
              <a:tr h="58293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ZONE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800" b="1" i="0" u="none" strike="noStrike" dirty="0">
                        <a:solidFill>
                          <a:srgbClr val="FF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593309"/>
                  </a:ext>
                </a:extLst>
              </a:tr>
              <a:tr h="50685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  <a:latin typeface="Bahnschrift SemiBold SemiConden" panose="020B0502040204020203" pitchFamily="34" charset="0"/>
                        </a:rPr>
                        <a:t>TRAVAUX  EXECUTES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6866252"/>
                  </a:ext>
                </a:extLst>
              </a:tr>
              <a:tr h="489093"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 CHEF D’EQUIPE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7953381"/>
                  </a:ext>
                </a:extLst>
              </a:tr>
              <a:tr h="458793"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Contact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1349186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7F265902-D221-4D95-2752-7E41BC1ADC1D}"/>
              </a:ext>
            </a:extLst>
          </p:cNvPr>
          <p:cNvGraphicFramePr>
            <a:graphicFrameLocks noGrp="1"/>
          </p:cNvGraphicFramePr>
          <p:nvPr/>
        </p:nvGraphicFramePr>
        <p:xfrm>
          <a:off x="6481418" y="1278337"/>
          <a:ext cx="4835766" cy="34005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7049">
                  <a:extLst>
                    <a:ext uri="{9D8B030D-6E8A-4147-A177-3AD203B41FA5}">
                      <a16:colId xmlns:a16="http://schemas.microsoft.com/office/drawing/2014/main" val="2430580122"/>
                    </a:ext>
                  </a:extLst>
                </a:gridCol>
                <a:gridCol w="2698717">
                  <a:extLst>
                    <a:ext uri="{9D8B030D-6E8A-4147-A177-3AD203B41FA5}">
                      <a16:colId xmlns:a16="http://schemas.microsoft.com/office/drawing/2014/main" val="921165396"/>
                    </a:ext>
                  </a:extLst>
                </a:gridCol>
              </a:tblGrid>
              <a:tr h="67036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u="none" strike="noStrike" dirty="0">
                          <a:effectLst/>
                          <a:latin typeface="Bahnschrift SemiBold SemiConden" panose="020B0502040204020203" pitchFamily="34" charset="0"/>
                        </a:rPr>
                        <a:t>Date Travaux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0517746"/>
                  </a:ext>
                </a:extLst>
              </a:tr>
              <a:tr h="648771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u="none" strike="noStrike" dirty="0">
                          <a:effectLst/>
                          <a:latin typeface="Bahnschrift SemiBold SemiConden" panose="020B0502040204020203" pitchFamily="34" charset="0"/>
                        </a:rPr>
                        <a:t>N° WO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800" b="1" i="0" u="none" strike="noStrike" dirty="0">
                        <a:solidFill>
                          <a:srgbClr val="FF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774248"/>
                  </a:ext>
                </a:extLst>
              </a:tr>
              <a:tr h="590929"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u="none" strike="noStrike" dirty="0">
                          <a:effectLst/>
                          <a:latin typeface="Bahnschrift SemiBold SemiConden" panose="020B0502040204020203" pitchFamily="34" charset="0"/>
                        </a:rPr>
                        <a:t>ID-RM-1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593309"/>
                  </a:ext>
                </a:extLst>
              </a:tr>
              <a:tr h="517329"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u="none" strike="noStrike" dirty="0">
                          <a:effectLst/>
                          <a:latin typeface="Bahnschrift SemiBold SemiConden" panose="020B0502040204020203" pitchFamily="34" charset="0"/>
                        </a:rPr>
                        <a:t>Contact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6866252"/>
                  </a:ext>
                </a:extLst>
              </a:tr>
              <a:tr h="52020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u="none" strike="noStrike" dirty="0">
                          <a:effectLst/>
                          <a:latin typeface="Bahnschrift SemiBold SemiConden" panose="020B0502040204020203" pitchFamily="34" charset="0"/>
                        </a:rPr>
                        <a:t>ID-RM-2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Bahnschrift SemiBold SemiConden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4878770"/>
                  </a:ext>
                </a:extLst>
              </a:tr>
              <a:tr h="45294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 SemiBold SemiConden" panose="020B0502040204020203" pitchFamily="34" charset="0"/>
                        </a:rPr>
                        <a:t>Contact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endParaRPr lang="fr-FR" sz="1400" b="1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49661515"/>
                  </a:ext>
                </a:extLst>
              </a:tr>
            </a:tbl>
          </a:graphicData>
        </a:graphic>
      </p:graphicFrame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02B24B2-6599-0A06-E08D-2B14C0319CD1}"/>
              </a:ext>
            </a:extLst>
          </p:cNvPr>
          <p:cNvSpPr/>
          <p:nvPr/>
        </p:nvSpPr>
        <p:spPr>
          <a:xfrm>
            <a:off x="1853926" y="201880"/>
            <a:ext cx="8484148" cy="96190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ahnschrift SemiBold SemiConden" panose="020B0502040204020203" pitchFamily="34" charset="0"/>
              </a:rPr>
              <a:t>INFOS SITE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0B900EE-3C7D-73FD-9A3E-104C9E1FBBF2}"/>
              </a:ext>
            </a:extLst>
          </p:cNvPr>
          <p:cNvSpPr/>
          <p:nvPr/>
        </p:nvSpPr>
        <p:spPr>
          <a:xfrm>
            <a:off x="3678117" y="5264847"/>
            <a:ext cx="4835766" cy="6296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1600" b="1" dirty="0">
                <a:latin typeface="Bahnschrift SemiBold SemiConden" panose="020B0502040204020203" pitchFamily="34" charset="0"/>
              </a:rPr>
              <a:t>INS_ETAT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4B356FC-8A22-9832-1534-1907A81CBB05}"/>
              </a:ext>
            </a:extLst>
          </p:cNvPr>
          <p:cNvSpPr txBox="1"/>
          <p:nvPr/>
        </p:nvSpPr>
        <p:spPr>
          <a:xfrm>
            <a:off x="3450772" y="2091275"/>
            <a:ext cx="219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INS_CODE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175ADFF-4020-68E3-4D8C-AA4BD3E8EA53}"/>
              </a:ext>
            </a:extLst>
          </p:cNvPr>
          <p:cNvSpPr txBox="1"/>
          <p:nvPr/>
        </p:nvSpPr>
        <p:spPr>
          <a:xfrm>
            <a:off x="3450772" y="2759266"/>
            <a:ext cx="230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INS_ZONE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CBACCBD-5746-6CAA-D61E-0E6ACD1A4A1F}"/>
              </a:ext>
            </a:extLst>
          </p:cNvPr>
          <p:cNvSpPr txBox="1"/>
          <p:nvPr/>
        </p:nvSpPr>
        <p:spPr>
          <a:xfrm>
            <a:off x="3450772" y="3297855"/>
            <a:ext cx="2300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INS_TRAVEAUX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652DA94-2997-FC9A-C1C4-25F5C8E00479}"/>
              </a:ext>
            </a:extLst>
          </p:cNvPr>
          <p:cNvSpPr txBox="1"/>
          <p:nvPr/>
        </p:nvSpPr>
        <p:spPr>
          <a:xfrm>
            <a:off x="3450772" y="3775505"/>
            <a:ext cx="2265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INS_CHEF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EA780A-281D-FE20-7BFF-181737633F78}"/>
              </a:ext>
            </a:extLst>
          </p:cNvPr>
          <p:cNvSpPr txBox="1"/>
          <p:nvPr/>
        </p:nvSpPr>
        <p:spPr>
          <a:xfrm>
            <a:off x="3414646" y="4258865"/>
            <a:ext cx="2265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INS_CONTACT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E010C3C-047D-8CDE-BE1B-4D8FF544FBBA}"/>
              </a:ext>
            </a:extLst>
          </p:cNvPr>
          <p:cNvSpPr txBox="1"/>
          <p:nvPr/>
        </p:nvSpPr>
        <p:spPr>
          <a:xfrm>
            <a:off x="3450772" y="1361640"/>
            <a:ext cx="252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Bahnschrift SemiBold SemiConden" panose="020B0502040204020203" pitchFamily="34" charset="0"/>
              </a:rPr>
              <a:t>INS_NOM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4150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_VUE_DU_SITE">
            <a:extLst>
              <a:ext uri="{FF2B5EF4-FFF2-40B4-BE49-F238E27FC236}">
                <a16:creationId xmlns:a16="http://schemas.microsoft.com/office/drawing/2014/main" id="{E4320E7B-611A-41B0-B4A6-F1341A8FF011}"/>
              </a:ext>
            </a:extLst>
          </p:cNvPr>
          <p:cNvSpPr/>
          <p:nvPr/>
        </p:nvSpPr>
        <p:spPr>
          <a:xfrm>
            <a:off x="1511514" y="1171191"/>
            <a:ext cx="4015907" cy="4174435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5" name="INS_PLAQUE">
            <a:extLst>
              <a:ext uri="{FF2B5EF4-FFF2-40B4-BE49-F238E27FC236}">
                <a16:creationId xmlns:a16="http://schemas.microsoft.com/office/drawing/2014/main" id="{D09204C7-9F96-4138-A3A8-BFC3F1B840A9}"/>
              </a:ext>
            </a:extLst>
          </p:cNvPr>
          <p:cNvSpPr/>
          <p:nvPr/>
        </p:nvSpPr>
        <p:spPr>
          <a:xfrm>
            <a:off x="6664581" y="1199821"/>
            <a:ext cx="3776870" cy="4174435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24D694-CEAB-47C3-B003-EA33D151D397}"/>
              </a:ext>
            </a:extLst>
          </p:cNvPr>
          <p:cNvSpPr/>
          <p:nvPr/>
        </p:nvSpPr>
        <p:spPr>
          <a:xfrm>
            <a:off x="1619220" y="5686809"/>
            <a:ext cx="3800494" cy="33326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DU SITE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1E04BB-9179-48C9-9D5E-3FEC5F1BB345}"/>
              </a:ext>
            </a:extLst>
          </p:cNvPr>
          <p:cNvSpPr/>
          <p:nvPr/>
        </p:nvSpPr>
        <p:spPr>
          <a:xfrm>
            <a:off x="6772288" y="5658179"/>
            <a:ext cx="3313043" cy="333265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PLAQUE IMMATRICULATION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62C5D-12E4-449C-AD40-0DD956D162B5}"/>
              </a:ext>
            </a:extLst>
          </p:cNvPr>
          <p:cNvSpPr/>
          <p:nvPr/>
        </p:nvSpPr>
        <p:spPr>
          <a:xfrm>
            <a:off x="2518780" y="27824"/>
            <a:ext cx="6734278" cy="5025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DU SITE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548A0DC-2686-43A2-93F9-E065E7DEA08E}"/>
              </a:ext>
            </a:extLst>
          </p:cNvPr>
          <p:cNvSpPr/>
          <p:nvPr/>
        </p:nvSpPr>
        <p:spPr>
          <a:xfrm>
            <a:off x="477078" y="795130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66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5F36-8570-F6ED-372F-80BC4890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SITE3">
            <a:extLst>
              <a:ext uri="{FF2B5EF4-FFF2-40B4-BE49-F238E27FC236}">
                <a16:creationId xmlns:a16="http://schemas.microsoft.com/office/drawing/2014/main" id="{238B149D-92D8-E1FB-19F0-7986793CF54A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SITE2">
            <a:extLst>
              <a:ext uri="{FF2B5EF4-FFF2-40B4-BE49-F238E27FC236}">
                <a16:creationId xmlns:a16="http://schemas.microsoft.com/office/drawing/2014/main" id="{7FA59DD9-861B-5E84-1DFC-7BFEF2550065}"/>
              </a:ext>
            </a:extLst>
          </p:cNvPr>
          <p:cNvSpPr/>
          <p:nvPr/>
        </p:nvSpPr>
        <p:spPr>
          <a:xfrm>
            <a:off x="4397824" y="1298461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0B4C7B-D1E2-1C61-46FE-9E4BC28EFBEB}"/>
              </a:ext>
            </a:extLst>
          </p:cNvPr>
          <p:cNvSpPr/>
          <p:nvPr/>
        </p:nvSpPr>
        <p:spPr>
          <a:xfrm>
            <a:off x="3138074" y="9923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générale du site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SITE1">
            <a:extLst>
              <a:ext uri="{FF2B5EF4-FFF2-40B4-BE49-F238E27FC236}">
                <a16:creationId xmlns:a16="http://schemas.microsoft.com/office/drawing/2014/main" id="{EC5F43E4-6B6A-0891-6798-FDD6C275677B}"/>
              </a:ext>
            </a:extLst>
          </p:cNvPr>
          <p:cNvSpPr/>
          <p:nvPr/>
        </p:nvSpPr>
        <p:spPr>
          <a:xfrm>
            <a:off x="588268" y="1271158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0EB773-CAB6-3ADC-FD9F-652B40BD4D56}"/>
              </a:ext>
            </a:extLst>
          </p:cNvPr>
          <p:cNvSpPr/>
          <p:nvPr/>
        </p:nvSpPr>
        <p:spPr>
          <a:xfrm>
            <a:off x="843699" y="6080002"/>
            <a:ext cx="2646786" cy="36145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23F820-46E8-7C42-6173-535A6C32BAB9}"/>
              </a:ext>
            </a:extLst>
          </p:cNvPr>
          <p:cNvSpPr/>
          <p:nvPr/>
        </p:nvSpPr>
        <p:spPr>
          <a:xfrm>
            <a:off x="4823791" y="6080002"/>
            <a:ext cx="2544417" cy="36145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03099E-F4DD-2160-9E18-6968DD41E966}"/>
              </a:ext>
            </a:extLst>
          </p:cNvPr>
          <p:cNvSpPr/>
          <p:nvPr/>
        </p:nvSpPr>
        <p:spPr>
          <a:xfrm>
            <a:off x="8701514" y="6080001"/>
            <a:ext cx="2650435" cy="36145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43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185F-6999-8A61-FD8A-37A17138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SERRURE">
            <a:extLst>
              <a:ext uri="{FF2B5EF4-FFF2-40B4-BE49-F238E27FC236}">
                <a16:creationId xmlns:a16="http://schemas.microsoft.com/office/drawing/2014/main" id="{04D23DF7-6C2D-D32F-A5E3-D8FD53F78693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PORTAIL">
            <a:extLst>
              <a:ext uri="{FF2B5EF4-FFF2-40B4-BE49-F238E27FC236}">
                <a16:creationId xmlns:a16="http://schemas.microsoft.com/office/drawing/2014/main" id="{F28DA4F2-AFC5-B42C-F8B3-CDA773C5F82F}"/>
              </a:ext>
            </a:extLst>
          </p:cNvPr>
          <p:cNvSpPr/>
          <p:nvPr/>
        </p:nvSpPr>
        <p:spPr>
          <a:xfrm>
            <a:off x="4380747" y="1309386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8BECB2-80F7-32EA-4F45-80A483DC3C20}"/>
              </a:ext>
            </a:extLst>
          </p:cNvPr>
          <p:cNvSpPr/>
          <p:nvPr/>
        </p:nvSpPr>
        <p:spPr>
          <a:xfrm>
            <a:off x="3138074" y="9923"/>
            <a:ext cx="5926903" cy="1065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Système d’ouverture et fermeture site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ACCES">
            <a:extLst>
              <a:ext uri="{FF2B5EF4-FFF2-40B4-BE49-F238E27FC236}">
                <a16:creationId xmlns:a16="http://schemas.microsoft.com/office/drawing/2014/main" id="{8D393ABE-B773-BA2F-E3AF-F1980BA1D742}"/>
              </a:ext>
            </a:extLst>
          </p:cNvPr>
          <p:cNvSpPr/>
          <p:nvPr/>
        </p:nvSpPr>
        <p:spPr>
          <a:xfrm>
            <a:off x="456113" y="1309386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8B32E4-BA31-3E8B-160F-DE1DC6E86F55}"/>
              </a:ext>
            </a:extLst>
          </p:cNvPr>
          <p:cNvSpPr/>
          <p:nvPr/>
        </p:nvSpPr>
        <p:spPr>
          <a:xfrm>
            <a:off x="8733171" y="6055383"/>
            <a:ext cx="2646786" cy="399435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SERRURE PORTAIL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3AFE29-241C-2C90-E793-BB7AE42B2265}"/>
              </a:ext>
            </a:extLst>
          </p:cNvPr>
          <p:cNvSpPr/>
          <p:nvPr/>
        </p:nvSpPr>
        <p:spPr>
          <a:xfrm>
            <a:off x="4707889" y="6074858"/>
            <a:ext cx="2544417" cy="37996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PORTAIL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0A86D9-9BA4-72D9-898F-46AB074EDAA8}"/>
              </a:ext>
            </a:extLst>
          </p:cNvPr>
          <p:cNvSpPr/>
          <p:nvPr/>
        </p:nvSpPr>
        <p:spPr>
          <a:xfrm>
            <a:off x="841877" y="6074857"/>
            <a:ext cx="2650435" cy="37996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r>
              <a:rPr lang="fr-CI" dirty="0">
                <a:latin typeface="Angsana New" panose="02020603050405020304" pitchFamily="18" charset="-34"/>
                <a:cs typeface="Angsana New" panose="02020603050405020304" pitchFamily="18" charset="-34"/>
              </a:rPr>
              <a:t> ACCES DU SITE</a:t>
            </a:r>
            <a:endParaRPr lang="fr-FR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2891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25E4D-625D-26E4-9D4D-DD9FA4D6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CLO3">
            <a:extLst>
              <a:ext uri="{FF2B5EF4-FFF2-40B4-BE49-F238E27FC236}">
                <a16:creationId xmlns:a16="http://schemas.microsoft.com/office/drawing/2014/main" id="{7B68C078-6A40-A408-E03F-4D4341989108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CLO2">
            <a:extLst>
              <a:ext uri="{FF2B5EF4-FFF2-40B4-BE49-F238E27FC236}">
                <a16:creationId xmlns:a16="http://schemas.microsoft.com/office/drawing/2014/main" id="{CD8F9052-4C14-BB6A-A62B-833FFD95C28F}"/>
              </a:ext>
            </a:extLst>
          </p:cNvPr>
          <p:cNvSpPr/>
          <p:nvPr/>
        </p:nvSpPr>
        <p:spPr>
          <a:xfrm>
            <a:off x="4380747" y="1309386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935C1E-5F12-8283-2D11-C38EE1BBC1A7}"/>
              </a:ext>
            </a:extLst>
          </p:cNvPr>
          <p:cNvSpPr/>
          <p:nvPr/>
        </p:nvSpPr>
        <p:spPr>
          <a:xfrm>
            <a:off x="3138074" y="9923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Clôture et sécurité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CLO1">
            <a:extLst>
              <a:ext uri="{FF2B5EF4-FFF2-40B4-BE49-F238E27FC236}">
                <a16:creationId xmlns:a16="http://schemas.microsoft.com/office/drawing/2014/main" id="{0CACA564-8863-5A7B-0CEE-829E63F387E9}"/>
              </a:ext>
            </a:extLst>
          </p:cNvPr>
          <p:cNvSpPr/>
          <p:nvPr/>
        </p:nvSpPr>
        <p:spPr>
          <a:xfrm>
            <a:off x="456113" y="1309386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71DF49-D6AC-93F4-566C-E5CD33C2C4AF}"/>
              </a:ext>
            </a:extLst>
          </p:cNvPr>
          <p:cNvSpPr/>
          <p:nvPr/>
        </p:nvSpPr>
        <p:spPr>
          <a:xfrm>
            <a:off x="843702" y="5712516"/>
            <a:ext cx="2646786" cy="4685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20BCD8-975E-9079-53B1-45A573C3FEDE}"/>
              </a:ext>
            </a:extLst>
          </p:cNvPr>
          <p:cNvSpPr/>
          <p:nvPr/>
        </p:nvSpPr>
        <p:spPr>
          <a:xfrm>
            <a:off x="4801934" y="5714956"/>
            <a:ext cx="2544417" cy="46857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0333B4-4BC5-28F0-E6A9-3996119CBD8A}"/>
              </a:ext>
            </a:extLst>
          </p:cNvPr>
          <p:cNvSpPr/>
          <p:nvPr/>
        </p:nvSpPr>
        <p:spPr>
          <a:xfrm>
            <a:off x="8657797" y="5710077"/>
            <a:ext cx="2650435" cy="47101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00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B0FA-9464-C489-49FB-E6FBB4EA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9A99578-D323-70A2-2EB9-4E5456171A8C}"/>
              </a:ext>
            </a:extLst>
          </p:cNvPr>
          <p:cNvSpPr/>
          <p:nvPr/>
        </p:nvSpPr>
        <p:spPr>
          <a:xfrm>
            <a:off x="4380747" y="1271160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AUCUNE VEGETATION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EFDE81-F010-1602-81AD-9C59B8FB982B}"/>
              </a:ext>
            </a:extLst>
          </p:cNvPr>
          <p:cNvSpPr/>
          <p:nvPr/>
        </p:nvSpPr>
        <p:spPr>
          <a:xfrm>
            <a:off x="3138074" y="9923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Végétation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253243-667F-F1CD-F947-3C390566A2DB}"/>
              </a:ext>
            </a:extLst>
          </p:cNvPr>
          <p:cNvSpPr/>
          <p:nvPr/>
        </p:nvSpPr>
        <p:spPr>
          <a:xfrm>
            <a:off x="4770782" y="6057110"/>
            <a:ext cx="2650435" cy="47101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24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87A68-DFA8-7553-4A09-DB446C55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BEA5E0C-FC43-6C9A-A7B3-EEB9AFBC9DD8}"/>
              </a:ext>
            </a:extLst>
          </p:cNvPr>
          <p:cNvSpPr/>
          <p:nvPr/>
        </p:nvSpPr>
        <p:spPr>
          <a:xfrm>
            <a:off x="3138074" y="9923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Propreté générale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PROPRE">
            <a:extLst>
              <a:ext uri="{FF2B5EF4-FFF2-40B4-BE49-F238E27FC236}">
                <a16:creationId xmlns:a16="http://schemas.microsoft.com/office/drawing/2014/main" id="{9F7912AA-5FCB-360F-E64D-1A5CF9A1F5FD}"/>
              </a:ext>
            </a:extLst>
          </p:cNvPr>
          <p:cNvSpPr/>
          <p:nvPr/>
        </p:nvSpPr>
        <p:spPr>
          <a:xfrm>
            <a:off x="456113" y="801511"/>
            <a:ext cx="11137575" cy="541658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84883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51BE9-FBE6-1A20-1F53-5A47CA1D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FONDA3">
            <a:extLst>
              <a:ext uri="{FF2B5EF4-FFF2-40B4-BE49-F238E27FC236}">
                <a16:creationId xmlns:a16="http://schemas.microsoft.com/office/drawing/2014/main" id="{3D7969B0-69D7-DE54-5E8C-BC5888D38CE1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FONDA2">
            <a:extLst>
              <a:ext uri="{FF2B5EF4-FFF2-40B4-BE49-F238E27FC236}">
                <a16:creationId xmlns:a16="http://schemas.microsoft.com/office/drawing/2014/main" id="{610AC2C4-315D-F0B0-5B97-91361F8806AF}"/>
              </a:ext>
            </a:extLst>
          </p:cNvPr>
          <p:cNvSpPr/>
          <p:nvPr/>
        </p:nvSpPr>
        <p:spPr>
          <a:xfrm>
            <a:off x="4414343" y="1309386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B96545-C192-AB50-A9C1-D497C1BFAE3C}"/>
              </a:ext>
            </a:extLst>
          </p:cNvPr>
          <p:cNvSpPr/>
          <p:nvPr/>
        </p:nvSpPr>
        <p:spPr>
          <a:xfrm>
            <a:off x="3138074" y="9923"/>
            <a:ext cx="5926903" cy="1065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fondation pylône &amp; point d’encrage haubans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FONDA1">
            <a:extLst>
              <a:ext uri="{FF2B5EF4-FFF2-40B4-BE49-F238E27FC236}">
                <a16:creationId xmlns:a16="http://schemas.microsoft.com/office/drawing/2014/main" id="{7F8DE63C-C9EE-3ED2-CE6F-4084880C7486}"/>
              </a:ext>
            </a:extLst>
          </p:cNvPr>
          <p:cNvSpPr/>
          <p:nvPr/>
        </p:nvSpPr>
        <p:spPr>
          <a:xfrm>
            <a:off x="456113" y="1309386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005495-0518-8D64-163D-B2C1AD7B9A0F}"/>
              </a:ext>
            </a:extLst>
          </p:cNvPr>
          <p:cNvSpPr/>
          <p:nvPr/>
        </p:nvSpPr>
        <p:spPr>
          <a:xfrm>
            <a:off x="767502" y="6070895"/>
            <a:ext cx="2646786" cy="4685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378AE3-DDAC-7A96-68D2-00FB037606B7}"/>
              </a:ext>
            </a:extLst>
          </p:cNvPr>
          <p:cNvSpPr/>
          <p:nvPr/>
        </p:nvSpPr>
        <p:spPr>
          <a:xfrm>
            <a:off x="4823791" y="6070896"/>
            <a:ext cx="2544417" cy="46857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09A2A1-DC8A-65AC-E83B-E93537E9533B}"/>
              </a:ext>
            </a:extLst>
          </p:cNvPr>
          <p:cNvSpPr/>
          <p:nvPr/>
        </p:nvSpPr>
        <p:spPr>
          <a:xfrm>
            <a:off x="8660241" y="6018448"/>
            <a:ext cx="2650435" cy="47101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81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09C5-F041-DEB4-9F71-D3EEA798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EQUIP3">
            <a:extLst>
              <a:ext uri="{FF2B5EF4-FFF2-40B4-BE49-F238E27FC236}">
                <a16:creationId xmlns:a16="http://schemas.microsoft.com/office/drawing/2014/main" id="{1E9F4A74-B423-0818-0A07-A4766352F604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EQUIP2">
            <a:extLst>
              <a:ext uri="{FF2B5EF4-FFF2-40B4-BE49-F238E27FC236}">
                <a16:creationId xmlns:a16="http://schemas.microsoft.com/office/drawing/2014/main" id="{144931F9-9A13-9E76-47CF-CC0E0A88DB55}"/>
              </a:ext>
            </a:extLst>
          </p:cNvPr>
          <p:cNvSpPr/>
          <p:nvPr/>
        </p:nvSpPr>
        <p:spPr>
          <a:xfrm>
            <a:off x="4380747" y="1309386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1B6FB5-19D1-ACDC-F8E7-556E55B8701E}"/>
              </a:ext>
            </a:extLst>
          </p:cNvPr>
          <p:cNvSpPr/>
          <p:nvPr/>
        </p:nvSpPr>
        <p:spPr>
          <a:xfrm>
            <a:off x="3138074" y="9923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Shelter, équipements, racks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EQUIP1">
            <a:extLst>
              <a:ext uri="{FF2B5EF4-FFF2-40B4-BE49-F238E27FC236}">
                <a16:creationId xmlns:a16="http://schemas.microsoft.com/office/drawing/2014/main" id="{722BBC52-AC6F-89B0-3DF7-DFD57D6EA23B}"/>
              </a:ext>
            </a:extLst>
          </p:cNvPr>
          <p:cNvSpPr/>
          <p:nvPr/>
        </p:nvSpPr>
        <p:spPr>
          <a:xfrm>
            <a:off x="456113" y="1309386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93A0FB-CAE7-312F-1641-952256CF0EC4}"/>
              </a:ext>
            </a:extLst>
          </p:cNvPr>
          <p:cNvSpPr/>
          <p:nvPr/>
        </p:nvSpPr>
        <p:spPr>
          <a:xfrm>
            <a:off x="843702" y="6081259"/>
            <a:ext cx="2646786" cy="354047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EB04A-4457-97EB-A70F-6A5BEC421A06}"/>
              </a:ext>
            </a:extLst>
          </p:cNvPr>
          <p:cNvSpPr/>
          <p:nvPr/>
        </p:nvSpPr>
        <p:spPr>
          <a:xfrm>
            <a:off x="4801934" y="6101435"/>
            <a:ext cx="2544417" cy="3338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49FAA-0DBC-6563-5719-02F74264693C}"/>
              </a:ext>
            </a:extLst>
          </p:cNvPr>
          <p:cNvSpPr/>
          <p:nvPr/>
        </p:nvSpPr>
        <p:spPr>
          <a:xfrm>
            <a:off x="8774115" y="6075192"/>
            <a:ext cx="2650435" cy="3338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66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D6020-C3EA-F5CB-2BAA-65820537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CIE3">
            <a:extLst>
              <a:ext uri="{FF2B5EF4-FFF2-40B4-BE49-F238E27FC236}">
                <a16:creationId xmlns:a16="http://schemas.microsoft.com/office/drawing/2014/main" id="{62FF1827-3293-3268-4E14-FF9075C259A7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CIE2">
            <a:extLst>
              <a:ext uri="{FF2B5EF4-FFF2-40B4-BE49-F238E27FC236}">
                <a16:creationId xmlns:a16="http://schemas.microsoft.com/office/drawing/2014/main" id="{036CCFCD-A68A-B17F-584B-40EE581F23E1}"/>
              </a:ext>
            </a:extLst>
          </p:cNvPr>
          <p:cNvSpPr/>
          <p:nvPr/>
        </p:nvSpPr>
        <p:spPr>
          <a:xfrm>
            <a:off x="4377773" y="1309387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A0035F-B6F1-2ECD-0A5E-04656583C8C3}"/>
              </a:ext>
            </a:extLst>
          </p:cNvPr>
          <p:cNvSpPr/>
          <p:nvPr/>
        </p:nvSpPr>
        <p:spPr>
          <a:xfrm>
            <a:off x="3110690" y="100234"/>
            <a:ext cx="5926903" cy="9427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Système Ouverture et intérieure Niche CIE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CIE1">
            <a:extLst>
              <a:ext uri="{FF2B5EF4-FFF2-40B4-BE49-F238E27FC236}">
                <a16:creationId xmlns:a16="http://schemas.microsoft.com/office/drawing/2014/main" id="{FE10A10A-453E-4DE6-79AD-435A80146EA6}"/>
              </a:ext>
            </a:extLst>
          </p:cNvPr>
          <p:cNvSpPr/>
          <p:nvPr/>
        </p:nvSpPr>
        <p:spPr>
          <a:xfrm>
            <a:off x="491288" y="1274817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06DCFD-D596-9717-C4EB-F201533F112C}"/>
              </a:ext>
            </a:extLst>
          </p:cNvPr>
          <p:cNvSpPr/>
          <p:nvPr/>
        </p:nvSpPr>
        <p:spPr>
          <a:xfrm>
            <a:off x="843699" y="6015937"/>
            <a:ext cx="2646786" cy="4685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5C21C1-3D6D-BB1D-53EF-2F515AE8A522}"/>
              </a:ext>
            </a:extLst>
          </p:cNvPr>
          <p:cNvSpPr/>
          <p:nvPr/>
        </p:nvSpPr>
        <p:spPr>
          <a:xfrm>
            <a:off x="4801932" y="6015938"/>
            <a:ext cx="2544417" cy="46857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D3C200-11B9-DE3B-1571-01D1EC7184DF}"/>
              </a:ext>
            </a:extLst>
          </p:cNvPr>
          <p:cNvSpPr/>
          <p:nvPr/>
        </p:nvSpPr>
        <p:spPr>
          <a:xfrm>
            <a:off x="8660241" y="5983810"/>
            <a:ext cx="2650435" cy="47101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882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CC72-0705-0E47-2732-03B10FF2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COF">
            <a:extLst>
              <a:ext uri="{FF2B5EF4-FFF2-40B4-BE49-F238E27FC236}">
                <a16:creationId xmlns:a16="http://schemas.microsoft.com/office/drawing/2014/main" id="{6F92DA00-1FE9-1204-0942-56427B45AB0B}"/>
              </a:ext>
            </a:extLst>
          </p:cNvPr>
          <p:cNvSpPr/>
          <p:nvPr/>
        </p:nvSpPr>
        <p:spPr>
          <a:xfrm>
            <a:off x="6217650" y="1271160"/>
            <a:ext cx="563988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EA8BE2-BFE2-116F-88D3-24BA5CBEEE51}"/>
              </a:ext>
            </a:extLst>
          </p:cNvPr>
          <p:cNvSpPr/>
          <p:nvPr/>
        </p:nvSpPr>
        <p:spPr>
          <a:xfrm>
            <a:off x="3110690" y="100234"/>
            <a:ext cx="5926903" cy="9427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TGBT &amp; coffret Inverseur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TGBT">
            <a:extLst>
              <a:ext uri="{FF2B5EF4-FFF2-40B4-BE49-F238E27FC236}">
                <a16:creationId xmlns:a16="http://schemas.microsoft.com/office/drawing/2014/main" id="{0A265CA4-A99A-8D46-C61C-05BB8E9F1DCB}"/>
              </a:ext>
            </a:extLst>
          </p:cNvPr>
          <p:cNvSpPr/>
          <p:nvPr/>
        </p:nvSpPr>
        <p:spPr>
          <a:xfrm>
            <a:off x="456113" y="1271160"/>
            <a:ext cx="5639887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B6E507-0A63-6328-C447-D2398CD54017}"/>
              </a:ext>
            </a:extLst>
          </p:cNvPr>
          <p:cNvSpPr/>
          <p:nvPr/>
        </p:nvSpPr>
        <p:spPr>
          <a:xfrm>
            <a:off x="1599549" y="5949240"/>
            <a:ext cx="2646786" cy="4685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5CD34F-C643-D290-C241-C6846364042E}"/>
              </a:ext>
            </a:extLst>
          </p:cNvPr>
          <p:cNvSpPr/>
          <p:nvPr/>
        </p:nvSpPr>
        <p:spPr>
          <a:xfrm>
            <a:off x="7864775" y="5948020"/>
            <a:ext cx="2650435" cy="47101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28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2D07-09EB-BB51-DA26-B19A30B0F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MOTEUR">
            <a:extLst>
              <a:ext uri="{FF2B5EF4-FFF2-40B4-BE49-F238E27FC236}">
                <a16:creationId xmlns:a16="http://schemas.microsoft.com/office/drawing/2014/main" id="{4303765D-D4EF-4860-67E7-D38582B8988F}"/>
              </a:ext>
            </a:extLst>
          </p:cNvPr>
          <p:cNvSpPr/>
          <p:nvPr/>
        </p:nvSpPr>
        <p:spPr>
          <a:xfrm>
            <a:off x="8261665" y="2244080"/>
            <a:ext cx="3430506" cy="3739729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endParaRPr lang="fr-FR" b="1" dirty="0"/>
          </a:p>
        </p:txBody>
      </p:sp>
      <p:sp>
        <p:nvSpPr>
          <p:cNvPr id="11" name="INS_GE_LAT">
            <a:extLst>
              <a:ext uri="{FF2B5EF4-FFF2-40B4-BE49-F238E27FC236}">
                <a16:creationId xmlns:a16="http://schemas.microsoft.com/office/drawing/2014/main" id="{EB1800F7-F629-2C32-4F3F-E9D11AED6AB2}"/>
              </a:ext>
            </a:extLst>
          </p:cNvPr>
          <p:cNvSpPr/>
          <p:nvPr/>
        </p:nvSpPr>
        <p:spPr>
          <a:xfrm>
            <a:off x="4380747" y="2244080"/>
            <a:ext cx="3430505" cy="3739729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3230CE-9A5D-FFBF-BF44-FC228E3D642F}"/>
              </a:ext>
            </a:extLst>
          </p:cNvPr>
          <p:cNvSpPr/>
          <p:nvPr/>
        </p:nvSpPr>
        <p:spPr>
          <a:xfrm>
            <a:off x="3138074" y="9923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Groupe électrogène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GE_FACE">
            <a:extLst>
              <a:ext uri="{FF2B5EF4-FFF2-40B4-BE49-F238E27FC236}">
                <a16:creationId xmlns:a16="http://schemas.microsoft.com/office/drawing/2014/main" id="{0663D8A3-2D33-19DE-5F94-EC63C3AF2FE8}"/>
              </a:ext>
            </a:extLst>
          </p:cNvPr>
          <p:cNvSpPr/>
          <p:nvPr/>
        </p:nvSpPr>
        <p:spPr>
          <a:xfrm>
            <a:off x="456113" y="2244080"/>
            <a:ext cx="3421965" cy="3739729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2F9194-B612-B756-D6CF-1ED9835BB346}"/>
              </a:ext>
            </a:extLst>
          </p:cNvPr>
          <p:cNvSpPr/>
          <p:nvPr/>
        </p:nvSpPr>
        <p:spPr>
          <a:xfrm>
            <a:off x="879597" y="6045789"/>
            <a:ext cx="2646786" cy="4685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CAROSSERIE GE DE FACE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D9226D-701D-02AB-8403-BF331DA59416}"/>
              </a:ext>
            </a:extLst>
          </p:cNvPr>
          <p:cNvSpPr/>
          <p:nvPr/>
        </p:nvSpPr>
        <p:spPr>
          <a:xfrm>
            <a:off x="4823790" y="6045790"/>
            <a:ext cx="2544417" cy="46857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 LATERALE CAROSSERIE GE 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F91A640-FF97-5410-DCB5-1CF4C198B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43277"/>
              </p:ext>
            </p:extLst>
          </p:nvPr>
        </p:nvGraphicFramePr>
        <p:xfrm>
          <a:off x="198783" y="887897"/>
          <a:ext cx="11563104" cy="1156908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5785919">
                  <a:extLst>
                    <a:ext uri="{9D8B030D-6E8A-4147-A177-3AD203B41FA5}">
                      <a16:colId xmlns:a16="http://schemas.microsoft.com/office/drawing/2014/main" val="758469496"/>
                    </a:ext>
                  </a:extLst>
                </a:gridCol>
                <a:gridCol w="5777185">
                  <a:extLst>
                    <a:ext uri="{9D8B030D-6E8A-4147-A177-3AD203B41FA5}">
                      <a16:colId xmlns:a16="http://schemas.microsoft.com/office/drawing/2014/main" val="3947041078"/>
                    </a:ext>
                  </a:extLst>
                </a:gridCol>
              </a:tblGrid>
              <a:tr h="344912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MARQUE GE :</a:t>
                      </a: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PUISSANCE GE :</a:t>
                      </a: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3372581798"/>
                  </a:ext>
                </a:extLst>
              </a:tr>
              <a:tr h="344912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COMPTEUR HORAIRE GE :</a:t>
                      </a: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MARQUE MOTEUR GE :</a:t>
                      </a: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2307017895"/>
                  </a:ext>
                </a:extLst>
              </a:tr>
              <a:tr h="344912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NIVEAU CABURANT GE :</a:t>
                      </a: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CAPACITE RESERVOIR GE :</a:t>
                      </a: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149232258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6FF3D59-5549-4A59-8885-BB609FB16936}"/>
              </a:ext>
            </a:extLst>
          </p:cNvPr>
          <p:cNvSpPr/>
          <p:nvPr/>
        </p:nvSpPr>
        <p:spPr>
          <a:xfrm>
            <a:off x="8772061" y="6027335"/>
            <a:ext cx="2670970" cy="50546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MOTEUR DU GE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B739AC-0236-04C0-3B3B-7F8CD84D2DE9}"/>
              </a:ext>
            </a:extLst>
          </p:cNvPr>
          <p:cNvSpPr txBox="1"/>
          <p:nvPr/>
        </p:nvSpPr>
        <p:spPr>
          <a:xfrm>
            <a:off x="1764387" y="849312"/>
            <a:ext cx="3763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INS_MARQUE_GE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1DB6F4-A6BF-7210-8DC8-3636288B7A25}"/>
              </a:ext>
            </a:extLst>
          </p:cNvPr>
          <p:cNvSpPr txBox="1"/>
          <p:nvPr/>
        </p:nvSpPr>
        <p:spPr>
          <a:xfrm>
            <a:off x="2912392" y="1228490"/>
            <a:ext cx="2830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INS_VAL_H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47E848-8769-B007-8CC3-983F9F446414}"/>
              </a:ext>
            </a:extLst>
          </p:cNvPr>
          <p:cNvSpPr txBox="1"/>
          <p:nvPr/>
        </p:nvSpPr>
        <p:spPr>
          <a:xfrm>
            <a:off x="2800148" y="1658598"/>
            <a:ext cx="2830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INS_VAL_CARB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6905674-4037-E62D-17A0-82D3A686B36A}"/>
              </a:ext>
            </a:extLst>
          </p:cNvPr>
          <p:cNvSpPr txBox="1"/>
          <p:nvPr/>
        </p:nvSpPr>
        <p:spPr>
          <a:xfrm>
            <a:off x="8261665" y="887897"/>
            <a:ext cx="2830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INS_VAL_PUISS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38297AF-D2BA-7B92-D27C-3AD95410F156}"/>
              </a:ext>
            </a:extLst>
          </p:cNvPr>
          <p:cNvSpPr txBox="1"/>
          <p:nvPr/>
        </p:nvSpPr>
        <p:spPr>
          <a:xfrm>
            <a:off x="8692181" y="1257229"/>
            <a:ext cx="2830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INS_MARQUE_MOT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402D5A4-6A79-295C-18EB-A3BA072133D3}"/>
              </a:ext>
            </a:extLst>
          </p:cNvPr>
          <p:cNvSpPr txBox="1"/>
          <p:nvPr/>
        </p:nvSpPr>
        <p:spPr>
          <a:xfrm>
            <a:off x="8861441" y="1604903"/>
            <a:ext cx="2830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INS_RES</a:t>
            </a:r>
          </a:p>
        </p:txBody>
      </p:sp>
    </p:spTree>
    <p:extLst>
      <p:ext uri="{BB962C8B-B14F-4D97-AF65-F5344CB8AC3E}">
        <p14:creationId xmlns:p14="http://schemas.microsoft.com/office/powerpoint/2010/main" val="1853400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8F8A3-1D36-78CA-148F-AD1849CD6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2A46F04-5485-60A5-2820-7C27DAAD3DD5}"/>
              </a:ext>
            </a:extLst>
          </p:cNvPr>
          <p:cNvSpPr/>
          <p:nvPr/>
        </p:nvSpPr>
        <p:spPr>
          <a:xfrm>
            <a:off x="3132548" y="0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Groupe électrogène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INS_COMPT">
            <a:extLst>
              <a:ext uri="{FF2B5EF4-FFF2-40B4-BE49-F238E27FC236}">
                <a16:creationId xmlns:a16="http://schemas.microsoft.com/office/drawing/2014/main" id="{167F53BB-6013-6282-5535-2163C630A3B3}"/>
              </a:ext>
            </a:extLst>
          </p:cNvPr>
          <p:cNvSpPr/>
          <p:nvPr/>
        </p:nvSpPr>
        <p:spPr>
          <a:xfrm>
            <a:off x="4359385" y="937302"/>
            <a:ext cx="3492623" cy="2540407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0429E9-678A-09B1-520C-8C1A58156A81}"/>
              </a:ext>
            </a:extLst>
          </p:cNvPr>
          <p:cNvSpPr/>
          <p:nvPr/>
        </p:nvSpPr>
        <p:spPr>
          <a:xfrm>
            <a:off x="4692261" y="3456643"/>
            <a:ext cx="2729458" cy="30266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COMPTEUR HORAIRE </a:t>
            </a:r>
            <a:endParaRPr lang="fr-FR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" name="INS_TANK">
            <a:extLst>
              <a:ext uri="{FF2B5EF4-FFF2-40B4-BE49-F238E27FC236}">
                <a16:creationId xmlns:a16="http://schemas.microsoft.com/office/drawing/2014/main" id="{EC68A19E-7D78-083D-A4AB-1C9909FE3C46}"/>
              </a:ext>
            </a:extLst>
          </p:cNvPr>
          <p:cNvSpPr/>
          <p:nvPr/>
        </p:nvSpPr>
        <p:spPr>
          <a:xfrm>
            <a:off x="530408" y="931828"/>
            <a:ext cx="3492623" cy="2540407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88EFE-5748-F257-2B28-213D07624B91}"/>
              </a:ext>
            </a:extLst>
          </p:cNvPr>
          <p:cNvSpPr/>
          <p:nvPr/>
        </p:nvSpPr>
        <p:spPr>
          <a:xfrm>
            <a:off x="903182" y="3532369"/>
            <a:ext cx="2670970" cy="30540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TANK </a:t>
            </a:r>
          </a:p>
        </p:txBody>
      </p:sp>
      <p:sp>
        <p:nvSpPr>
          <p:cNvPr id="8" name="INS_INT_GE">
            <a:extLst>
              <a:ext uri="{FF2B5EF4-FFF2-40B4-BE49-F238E27FC236}">
                <a16:creationId xmlns:a16="http://schemas.microsoft.com/office/drawing/2014/main" id="{4AB2F8B3-00AF-69F8-E184-4D2BD1707066}"/>
              </a:ext>
            </a:extLst>
          </p:cNvPr>
          <p:cNvSpPr/>
          <p:nvPr/>
        </p:nvSpPr>
        <p:spPr>
          <a:xfrm>
            <a:off x="8207022" y="931828"/>
            <a:ext cx="3492623" cy="5568925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INS_FILTRE">
            <a:extLst>
              <a:ext uri="{FF2B5EF4-FFF2-40B4-BE49-F238E27FC236}">
                <a16:creationId xmlns:a16="http://schemas.microsoft.com/office/drawing/2014/main" id="{4EAE734E-A513-FEDF-6DAC-155057639431}"/>
              </a:ext>
            </a:extLst>
          </p:cNvPr>
          <p:cNvSpPr/>
          <p:nvPr/>
        </p:nvSpPr>
        <p:spPr>
          <a:xfrm>
            <a:off x="4359384" y="3941037"/>
            <a:ext cx="3492623" cy="2540407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489DF5-D433-8169-768E-98A031D40B4D}"/>
              </a:ext>
            </a:extLst>
          </p:cNvPr>
          <p:cNvSpPr/>
          <p:nvPr/>
        </p:nvSpPr>
        <p:spPr>
          <a:xfrm>
            <a:off x="4740966" y="6500754"/>
            <a:ext cx="2729458" cy="31774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VUE ELEMENTS FILTRANTS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A34896-C636-BF08-D6B7-B14F091E8361}"/>
              </a:ext>
            </a:extLst>
          </p:cNvPr>
          <p:cNvSpPr/>
          <p:nvPr/>
        </p:nvSpPr>
        <p:spPr>
          <a:xfrm>
            <a:off x="8617848" y="6539140"/>
            <a:ext cx="2670970" cy="279357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 INTERIEUR GE </a:t>
            </a:r>
          </a:p>
        </p:txBody>
      </p:sp>
      <p:sp>
        <p:nvSpPr>
          <p:cNvPr id="14" name="INS_RAD">
            <a:extLst>
              <a:ext uri="{FF2B5EF4-FFF2-40B4-BE49-F238E27FC236}">
                <a16:creationId xmlns:a16="http://schemas.microsoft.com/office/drawing/2014/main" id="{BB94D688-0899-FC52-B8A3-6979A7EDF1B3}"/>
              </a:ext>
            </a:extLst>
          </p:cNvPr>
          <p:cNvSpPr/>
          <p:nvPr/>
        </p:nvSpPr>
        <p:spPr>
          <a:xfrm>
            <a:off x="432995" y="3941038"/>
            <a:ext cx="3492623" cy="2540407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ACB212-0531-D230-CFC8-5E348EA4C98B}"/>
              </a:ext>
            </a:extLst>
          </p:cNvPr>
          <p:cNvSpPr/>
          <p:nvPr/>
        </p:nvSpPr>
        <p:spPr>
          <a:xfrm>
            <a:off x="783561" y="6507856"/>
            <a:ext cx="2670970" cy="31064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DU RADIATEUR</a:t>
            </a:r>
          </a:p>
        </p:txBody>
      </p:sp>
    </p:spTree>
    <p:extLst>
      <p:ext uri="{BB962C8B-B14F-4D97-AF65-F5344CB8AC3E}">
        <p14:creationId xmlns:p14="http://schemas.microsoft.com/office/powerpoint/2010/main" val="4225294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5562C5D-12E4-449C-AD40-0DD956D162B5}"/>
              </a:ext>
            </a:extLst>
          </p:cNvPr>
          <p:cNvSpPr/>
          <p:nvPr/>
        </p:nvSpPr>
        <p:spPr>
          <a:xfrm>
            <a:off x="3138075" y="9923"/>
            <a:ext cx="5915850" cy="52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du Système de Climatisation</a:t>
            </a:r>
          </a:p>
        </p:txBody>
      </p:sp>
      <p:sp>
        <p:nvSpPr>
          <p:cNvPr id="13" name="INS_CLIM1">
            <a:extLst>
              <a:ext uri="{FF2B5EF4-FFF2-40B4-BE49-F238E27FC236}">
                <a16:creationId xmlns:a16="http://schemas.microsoft.com/office/drawing/2014/main" id="{65D7D0F3-8DFF-4AF7-AE9C-EBCFC88763F1}"/>
              </a:ext>
            </a:extLst>
          </p:cNvPr>
          <p:cNvSpPr/>
          <p:nvPr/>
        </p:nvSpPr>
        <p:spPr>
          <a:xfrm>
            <a:off x="255625" y="3429000"/>
            <a:ext cx="3492623" cy="3000079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4" name="INS_CLIM2">
            <a:extLst>
              <a:ext uri="{FF2B5EF4-FFF2-40B4-BE49-F238E27FC236}">
                <a16:creationId xmlns:a16="http://schemas.microsoft.com/office/drawing/2014/main" id="{1F5C5C01-9B13-4816-A98E-852DD61DFCAE}"/>
              </a:ext>
            </a:extLst>
          </p:cNvPr>
          <p:cNvSpPr/>
          <p:nvPr/>
        </p:nvSpPr>
        <p:spPr>
          <a:xfrm>
            <a:off x="4274417" y="3421164"/>
            <a:ext cx="3492623" cy="3000079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7" name="INS_CLIM3">
            <a:extLst>
              <a:ext uri="{FF2B5EF4-FFF2-40B4-BE49-F238E27FC236}">
                <a16:creationId xmlns:a16="http://schemas.microsoft.com/office/drawing/2014/main" id="{19CF886D-E6C4-4DF4-9D4E-5218F6ABA6E2}"/>
              </a:ext>
            </a:extLst>
          </p:cNvPr>
          <p:cNvSpPr/>
          <p:nvPr/>
        </p:nvSpPr>
        <p:spPr>
          <a:xfrm>
            <a:off x="8443752" y="3429000"/>
            <a:ext cx="3492623" cy="3000079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F767FC-1FEE-49B2-9F95-0654B9F7A3F9}"/>
              </a:ext>
            </a:extLst>
          </p:cNvPr>
          <p:cNvSpPr/>
          <p:nvPr/>
        </p:nvSpPr>
        <p:spPr>
          <a:xfrm>
            <a:off x="730156" y="6429079"/>
            <a:ext cx="2543560" cy="24218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CLIM AVANT LAVAGE </a:t>
            </a:r>
            <a:endParaRPr lang="fr-FR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7AED94-CD5F-41D7-9C13-6446A0DCE9F3}"/>
              </a:ext>
            </a:extLst>
          </p:cNvPr>
          <p:cNvSpPr/>
          <p:nvPr/>
        </p:nvSpPr>
        <p:spPr>
          <a:xfrm>
            <a:off x="4963513" y="6429079"/>
            <a:ext cx="2543561" cy="24218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CLIM PENDANT LAVAGE 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F6371B7-CF1C-420D-8AB7-EDDD49413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416249"/>
              </p:ext>
            </p:extLst>
          </p:nvPr>
        </p:nvGraphicFramePr>
        <p:xfrm>
          <a:off x="710063" y="654249"/>
          <a:ext cx="10771874" cy="2540406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5370210">
                  <a:extLst>
                    <a:ext uri="{9D8B030D-6E8A-4147-A177-3AD203B41FA5}">
                      <a16:colId xmlns:a16="http://schemas.microsoft.com/office/drawing/2014/main" val="1891906494"/>
                    </a:ext>
                  </a:extLst>
                </a:gridCol>
                <a:gridCol w="5401664">
                  <a:extLst>
                    <a:ext uri="{9D8B030D-6E8A-4147-A177-3AD203B41FA5}">
                      <a16:colId xmlns:a16="http://schemas.microsoft.com/office/drawing/2014/main" val="2056599285"/>
                    </a:ext>
                  </a:extLst>
                </a:gridCol>
              </a:tblGrid>
              <a:tr h="4234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NOMBRE DE CLIM : 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BRAND : NASCO</a:t>
                      </a:r>
                      <a:endParaRPr lang="fr-FR" sz="200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2563350785"/>
                  </a:ext>
                </a:extLst>
              </a:tr>
              <a:tr h="4234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POWER :1.5 CH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ETAT FACE CLIM :OK</a:t>
                      </a:r>
                      <a:endParaRPr lang="fr-FR" sz="200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1378934115"/>
                  </a:ext>
                </a:extLst>
              </a:tr>
              <a:tr h="4234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ETAT PALETTES VETIL : OK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ETAT CONDUIT REFROIDISSEMENT : OK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1381852975"/>
                  </a:ext>
                </a:extLst>
              </a:tr>
              <a:tr h="4234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ETAT CONDENSATEUR/EVAPO : OK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VERIFICATION DES CONNEXIONS/CABLAGE : OK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1182541333"/>
                  </a:ext>
                </a:extLst>
              </a:tr>
              <a:tr h="4234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BOBINE RINSE ET LAVE : OK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NETTOYAGE INTERIEUR : OK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4270052444"/>
                  </a:ext>
                </a:extLst>
              </a:tr>
              <a:tr h="4234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RESSERER COUVERCLE EXTERIEUR : OK</a:t>
                      </a:r>
                      <a:endParaRPr lang="fr-FR" sz="200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ETAT THERMOSTAT : OK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125081439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6804F813-0777-4CDD-AF02-316BFC4425E6}"/>
              </a:ext>
            </a:extLst>
          </p:cNvPr>
          <p:cNvSpPr/>
          <p:nvPr/>
        </p:nvSpPr>
        <p:spPr>
          <a:xfrm>
            <a:off x="8918283" y="6429079"/>
            <a:ext cx="2543560" cy="24218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CLIM APRES LAVAGE</a:t>
            </a:r>
            <a:endParaRPr lang="fr-FR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32030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CC6B3-F066-F88C-4EF4-33C487BF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DRAIN3">
            <a:extLst>
              <a:ext uri="{FF2B5EF4-FFF2-40B4-BE49-F238E27FC236}">
                <a16:creationId xmlns:a16="http://schemas.microsoft.com/office/drawing/2014/main" id="{543FA313-9882-2D66-8664-EE56C6A7376B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DRAIN2">
            <a:extLst>
              <a:ext uri="{FF2B5EF4-FFF2-40B4-BE49-F238E27FC236}">
                <a16:creationId xmlns:a16="http://schemas.microsoft.com/office/drawing/2014/main" id="{ED0ABC7E-D658-85B3-F8F0-3228748506B5}"/>
              </a:ext>
            </a:extLst>
          </p:cNvPr>
          <p:cNvSpPr/>
          <p:nvPr/>
        </p:nvSpPr>
        <p:spPr>
          <a:xfrm>
            <a:off x="4380747" y="1309386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07FF10-3CBA-B329-6DB6-E1C5669E5AC0}"/>
              </a:ext>
            </a:extLst>
          </p:cNvPr>
          <p:cNvSpPr/>
          <p:nvPr/>
        </p:nvSpPr>
        <p:spPr>
          <a:xfrm>
            <a:off x="3132547" y="88945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Point de Drainage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DRAIN1">
            <a:extLst>
              <a:ext uri="{FF2B5EF4-FFF2-40B4-BE49-F238E27FC236}">
                <a16:creationId xmlns:a16="http://schemas.microsoft.com/office/drawing/2014/main" id="{D17AE13A-8352-6F45-0CE6-B497CD3D727F}"/>
              </a:ext>
            </a:extLst>
          </p:cNvPr>
          <p:cNvSpPr/>
          <p:nvPr/>
        </p:nvSpPr>
        <p:spPr>
          <a:xfrm>
            <a:off x="456113" y="1309386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2F024D-2B25-0F93-3E90-8B4288CC74A0}"/>
              </a:ext>
            </a:extLst>
          </p:cNvPr>
          <p:cNvSpPr/>
          <p:nvPr/>
        </p:nvSpPr>
        <p:spPr>
          <a:xfrm>
            <a:off x="756617" y="6043879"/>
            <a:ext cx="2646786" cy="4685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POINT DE DRAINAGE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56C615-112F-FEA6-0C56-D142E4726CC9}"/>
              </a:ext>
            </a:extLst>
          </p:cNvPr>
          <p:cNvSpPr/>
          <p:nvPr/>
        </p:nvSpPr>
        <p:spPr>
          <a:xfrm>
            <a:off x="4995729" y="6056981"/>
            <a:ext cx="2544417" cy="46857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POINT DEVACUATION D’EAU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5A16EE-9235-2982-DD58-0EB8E3B10DFA}"/>
              </a:ext>
            </a:extLst>
          </p:cNvPr>
          <p:cNvSpPr/>
          <p:nvPr/>
        </p:nvSpPr>
        <p:spPr>
          <a:xfrm>
            <a:off x="8784948" y="6015170"/>
            <a:ext cx="2650435" cy="47101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EPANDAGE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7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26F7-E991-AB45-E5A9-31EDD502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GUERITE3">
            <a:extLst>
              <a:ext uri="{FF2B5EF4-FFF2-40B4-BE49-F238E27FC236}">
                <a16:creationId xmlns:a16="http://schemas.microsoft.com/office/drawing/2014/main" id="{963E5531-2E02-A0B4-754D-EE4B531542FC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GUERITE2">
            <a:extLst>
              <a:ext uri="{FF2B5EF4-FFF2-40B4-BE49-F238E27FC236}">
                <a16:creationId xmlns:a16="http://schemas.microsoft.com/office/drawing/2014/main" id="{537AB72C-595B-B192-4F04-D883D0980444}"/>
              </a:ext>
            </a:extLst>
          </p:cNvPr>
          <p:cNvSpPr/>
          <p:nvPr/>
        </p:nvSpPr>
        <p:spPr>
          <a:xfrm>
            <a:off x="4380747" y="1309386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3AA6CC-A74E-B3F4-E708-BD58F9C5FC6B}"/>
              </a:ext>
            </a:extLst>
          </p:cNvPr>
          <p:cNvSpPr/>
          <p:nvPr/>
        </p:nvSpPr>
        <p:spPr>
          <a:xfrm>
            <a:off x="3110690" y="100234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Guérite Vigile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GUERITE1">
            <a:extLst>
              <a:ext uri="{FF2B5EF4-FFF2-40B4-BE49-F238E27FC236}">
                <a16:creationId xmlns:a16="http://schemas.microsoft.com/office/drawing/2014/main" id="{AE2A8176-C063-83F8-4833-7F2445B4EA35}"/>
              </a:ext>
            </a:extLst>
          </p:cNvPr>
          <p:cNvSpPr/>
          <p:nvPr/>
        </p:nvSpPr>
        <p:spPr>
          <a:xfrm>
            <a:off x="456113" y="1309386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47DCF3-AD1A-336B-53DF-B9DFB6CE597C}"/>
              </a:ext>
            </a:extLst>
          </p:cNvPr>
          <p:cNvSpPr/>
          <p:nvPr/>
        </p:nvSpPr>
        <p:spPr>
          <a:xfrm>
            <a:off x="887418" y="6040447"/>
            <a:ext cx="2646786" cy="4685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EXTERIEUR GUERITE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B18308-7AF2-7502-DB61-86BF1CD71264}"/>
              </a:ext>
            </a:extLst>
          </p:cNvPr>
          <p:cNvSpPr/>
          <p:nvPr/>
        </p:nvSpPr>
        <p:spPr>
          <a:xfrm>
            <a:off x="4823792" y="6040448"/>
            <a:ext cx="2544417" cy="46857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INTERIEUR DE LA GUERITE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142DFF-0046-3C41-061F-C0815747267D}"/>
              </a:ext>
            </a:extLst>
          </p:cNvPr>
          <p:cNvSpPr/>
          <p:nvPr/>
        </p:nvSpPr>
        <p:spPr>
          <a:xfrm>
            <a:off x="8744883" y="6007562"/>
            <a:ext cx="2650435" cy="47101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 SYSTÈME DE VERROUILLAGE GUERITE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909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6AE8-00A1-3768-EA03-98FD79C6B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S_AN3">
            <a:extLst>
              <a:ext uri="{FF2B5EF4-FFF2-40B4-BE49-F238E27FC236}">
                <a16:creationId xmlns:a16="http://schemas.microsoft.com/office/drawing/2014/main" id="{E225B6BB-EEC1-1559-6CAA-30289B8CC9AF}"/>
              </a:ext>
            </a:extLst>
          </p:cNvPr>
          <p:cNvSpPr/>
          <p:nvPr/>
        </p:nvSpPr>
        <p:spPr>
          <a:xfrm>
            <a:off x="8270206" y="1274819"/>
            <a:ext cx="3430506" cy="467442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11" name="INS_AN2">
            <a:extLst>
              <a:ext uri="{FF2B5EF4-FFF2-40B4-BE49-F238E27FC236}">
                <a16:creationId xmlns:a16="http://schemas.microsoft.com/office/drawing/2014/main" id="{458C55BE-B5DA-D92A-907A-826EF459CA60}"/>
              </a:ext>
            </a:extLst>
          </p:cNvPr>
          <p:cNvSpPr/>
          <p:nvPr/>
        </p:nvSpPr>
        <p:spPr>
          <a:xfrm>
            <a:off x="4380747" y="1309386"/>
            <a:ext cx="3430505" cy="4674423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B8A3FC-1EAA-ECE4-1C19-328A7DD4E574}"/>
              </a:ext>
            </a:extLst>
          </p:cNvPr>
          <p:cNvSpPr/>
          <p:nvPr/>
        </p:nvSpPr>
        <p:spPr>
          <a:xfrm>
            <a:off x="3138074" y="9923"/>
            <a:ext cx="5926903" cy="6786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Vue Anomalies spécifiques</a:t>
            </a:r>
            <a:endParaRPr lang="fr-FR" sz="4000" b="1" dirty="0">
              <a:ln w="0"/>
              <a:solidFill>
                <a:srgbClr val="FFC000"/>
              </a:solidFill>
              <a:effectLst>
                <a:reflection blurRad="6350" stA="53000" endA="300" endPos="35500" dir="5400000" sy="-90000" algn="bl" rotWithShape="0"/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6" name="INS_AN1">
            <a:extLst>
              <a:ext uri="{FF2B5EF4-FFF2-40B4-BE49-F238E27FC236}">
                <a16:creationId xmlns:a16="http://schemas.microsoft.com/office/drawing/2014/main" id="{052B234D-527E-AF53-3DA1-7F4D94F392A1}"/>
              </a:ext>
            </a:extLst>
          </p:cNvPr>
          <p:cNvSpPr/>
          <p:nvPr/>
        </p:nvSpPr>
        <p:spPr>
          <a:xfrm>
            <a:off x="456113" y="1309386"/>
            <a:ext cx="3421965" cy="467442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41D034-BFAE-4A41-A6FF-464926BA3D4B}"/>
              </a:ext>
            </a:extLst>
          </p:cNvPr>
          <p:cNvSpPr/>
          <p:nvPr/>
        </p:nvSpPr>
        <p:spPr>
          <a:xfrm>
            <a:off x="843702" y="5712516"/>
            <a:ext cx="2646786" cy="468571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E45A5A-BC0C-1385-42D1-36F41A788348}"/>
              </a:ext>
            </a:extLst>
          </p:cNvPr>
          <p:cNvSpPr/>
          <p:nvPr/>
        </p:nvSpPr>
        <p:spPr>
          <a:xfrm>
            <a:off x="4801934" y="5714956"/>
            <a:ext cx="2544417" cy="46857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298552-A062-614C-3088-41BC902A02DD}"/>
              </a:ext>
            </a:extLst>
          </p:cNvPr>
          <p:cNvSpPr/>
          <p:nvPr/>
        </p:nvSpPr>
        <p:spPr>
          <a:xfrm>
            <a:off x="8657797" y="5710077"/>
            <a:ext cx="2650435" cy="47101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ngsana New" panose="02020603050405020304" pitchFamily="18" charset="-34"/>
                <a:cs typeface="Angsana New" panose="02020603050405020304" pitchFamily="18" charset="-34"/>
              </a:rPr>
              <a:t>VUE</a:t>
            </a:r>
            <a:endParaRPr lang="fr-FR" sz="14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256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5562C5D-12E4-449C-AD40-0DD956D162B5}"/>
              </a:ext>
            </a:extLst>
          </p:cNvPr>
          <p:cNvSpPr/>
          <p:nvPr/>
        </p:nvSpPr>
        <p:spPr>
          <a:xfrm>
            <a:off x="379602" y="186739"/>
            <a:ext cx="11432791" cy="7478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TEST ALARME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013AEC8-47EF-4108-84DE-DE921AFEF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469485"/>
              </p:ext>
            </p:extLst>
          </p:nvPr>
        </p:nvGraphicFramePr>
        <p:xfrm>
          <a:off x="1192696" y="1537250"/>
          <a:ext cx="9766851" cy="5253736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3255617">
                  <a:extLst>
                    <a:ext uri="{9D8B030D-6E8A-4147-A177-3AD203B41FA5}">
                      <a16:colId xmlns:a16="http://schemas.microsoft.com/office/drawing/2014/main" val="2800651654"/>
                    </a:ext>
                  </a:extLst>
                </a:gridCol>
                <a:gridCol w="3255617">
                  <a:extLst>
                    <a:ext uri="{9D8B030D-6E8A-4147-A177-3AD203B41FA5}">
                      <a16:colId xmlns:a16="http://schemas.microsoft.com/office/drawing/2014/main" val="1302415992"/>
                    </a:ext>
                  </a:extLst>
                </a:gridCol>
                <a:gridCol w="3255617">
                  <a:extLst>
                    <a:ext uri="{9D8B030D-6E8A-4147-A177-3AD203B41FA5}">
                      <a16:colId xmlns:a16="http://schemas.microsoft.com/office/drawing/2014/main" val="1604466390"/>
                    </a:ext>
                  </a:extLst>
                </a:gridCol>
              </a:tblGrid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 </a:t>
                      </a:r>
                      <a:endParaRPr lang="fr-FR" sz="24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</a:rPr>
                        <a:t>CABLE ALARME</a:t>
                      </a:r>
                      <a:endParaRPr lang="fr-FR" sz="240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</a:rPr>
                        <a:t>TEST DE Continuité CABLE ALARME</a:t>
                      </a:r>
                      <a:endParaRPr lang="fr-FR" sz="24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3133978261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DC RECTIFIER FAILURE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2091667165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DC RACK FAULTY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Non 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3889026199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MAINS FAILURE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629656207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INTRUSION DETECTED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Non 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NOK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/>
                </a:tc>
                <a:extLst>
                  <a:ext uri="{0D108BD9-81ED-4DB2-BD59-A6C34878D82A}">
                    <a16:rowId xmlns:a16="http://schemas.microsoft.com/office/drawing/2014/main" val="610765819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MAIN SURGE</a:t>
                      </a:r>
                      <a:endParaRPr lang="fr-FR" sz="280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Non 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2026767805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GE IN SERVICE</a:t>
                      </a:r>
                      <a:endParaRPr lang="fr-FR" sz="280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733626398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HIGH TEMP</a:t>
                      </a:r>
                      <a:endParaRPr lang="fr-FR" sz="280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3564875707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SMOKE DETECTED</a:t>
                      </a:r>
                      <a:endParaRPr lang="fr-FR" sz="280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Non 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3606979481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RECLOSER FAULTY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Non Cable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NOK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ea typeface="Calibri" panose="020F0502020204030204" pitchFamily="34" charset="0"/>
                        <a:cs typeface="Angsana New" panose="02020603050405020304" pitchFamily="18" charset="-34"/>
                      </a:endParaRPr>
                    </a:p>
                  </a:txBody>
                  <a:tcPr marL="25400" marR="73025" marT="0" marB="36195" anchor="b"/>
                </a:tc>
                <a:extLst>
                  <a:ext uri="{0D108BD9-81ED-4DB2-BD59-A6C34878D82A}">
                    <a16:rowId xmlns:a16="http://schemas.microsoft.com/office/drawing/2014/main" val="297870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227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3A01-3CDF-A5E8-63D7-8BB48046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83B3D6-8B1E-887D-599A-384B41681777}"/>
              </a:ext>
            </a:extLst>
          </p:cNvPr>
          <p:cNvSpPr/>
          <p:nvPr/>
        </p:nvSpPr>
        <p:spPr>
          <a:xfrm>
            <a:off x="3271453" y="332654"/>
            <a:ext cx="6119205" cy="5368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Actions Menées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7DE6BA-CFD0-7EDB-59A3-C156C69E21E1}"/>
              </a:ext>
            </a:extLst>
          </p:cNvPr>
          <p:cNvSpPr/>
          <p:nvPr/>
        </p:nvSpPr>
        <p:spPr>
          <a:xfrm>
            <a:off x="1317355" y="1317356"/>
            <a:ext cx="10027403" cy="4842077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fr-FR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b="1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NETTOYAGE DU SITE ET DES EQUIPEMENTS;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DESHERBAGE.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 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b="1" dirty="0"/>
              <a:t> </a:t>
            </a:r>
          </a:p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3089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E97BF-B853-4E98-A9E8-AE59ACB3C036}"/>
              </a:ext>
            </a:extLst>
          </p:cNvPr>
          <p:cNvSpPr/>
          <p:nvPr/>
        </p:nvSpPr>
        <p:spPr>
          <a:xfrm>
            <a:off x="3271453" y="332654"/>
            <a:ext cx="6119205" cy="5368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RECOMMANDATIONS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3B289-56E2-4EE5-8089-F10277A26123}"/>
              </a:ext>
            </a:extLst>
          </p:cNvPr>
          <p:cNvSpPr/>
          <p:nvPr/>
        </p:nvSpPr>
        <p:spPr>
          <a:xfrm>
            <a:off x="1317355" y="1317356"/>
            <a:ext cx="10027403" cy="4842077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PEINDRE LA CLOTURE.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484824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729F44-EE49-F0C5-411E-25DC9B471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725737"/>
            <a:ext cx="3543860" cy="206216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fr-FR" sz="7800" spc="600" dirty="0">
                <a:latin typeface="Bell MT" panose="02020503060305020303" pitchFamily="18" charset="0"/>
              </a:rPr>
              <a:t>MERCI</a:t>
            </a:r>
            <a:endParaRPr lang="fr-CI" sz="2000" spc="600" dirty="0">
              <a:latin typeface="Bell MT" panose="02020503060305020303" pitchFamily="18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913A56EB-08CF-B6AA-2E61-1DBF1AE72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7735" y="1024698"/>
            <a:ext cx="5456279" cy="545627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28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CI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3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I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9E69889D-BC31-B424-F89D-519F209407AC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33" y="502019"/>
            <a:ext cx="2047555" cy="1412917"/>
          </a:xfrm>
          <a:prstGeom prst="rect">
            <a:avLst/>
          </a:prstGeom>
        </p:spPr>
      </p:pic>
      <p:pic>
        <p:nvPicPr>
          <p:cNvPr id="5" name="Image 4" descr="Une image contenant clipartDescription générée automatiquement">
            <a:extLst>
              <a:ext uri="{FF2B5EF4-FFF2-40B4-BE49-F238E27FC236}">
                <a16:creationId xmlns:a16="http://schemas.microsoft.com/office/drawing/2014/main" id="{797C68A8-94A7-47E2-A804-B4739C0F8C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132" y="502020"/>
            <a:ext cx="2047555" cy="14129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9217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3C994AA-F35D-5310-048B-A3C8F4DEF155}"/>
              </a:ext>
            </a:extLst>
          </p:cNvPr>
          <p:cNvSpPr txBox="1"/>
          <p:nvPr/>
        </p:nvSpPr>
        <p:spPr>
          <a:xfrm>
            <a:off x="348342" y="2383971"/>
            <a:ext cx="1184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INS_REMARQUES</a:t>
            </a:r>
          </a:p>
        </p:txBody>
      </p:sp>
    </p:spTree>
    <p:extLst>
      <p:ext uri="{BB962C8B-B14F-4D97-AF65-F5344CB8AC3E}">
        <p14:creationId xmlns:p14="http://schemas.microsoft.com/office/powerpoint/2010/main" val="1399278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7092</TotalTime>
  <Words>435</Words>
  <Application>Microsoft Office PowerPoint</Application>
  <PresentationFormat>Grand écran</PresentationFormat>
  <Paragraphs>176</Paragraphs>
  <Slides>23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2" baseType="lpstr">
      <vt:lpstr>Angsana New</vt:lpstr>
      <vt:lpstr>Aptos</vt:lpstr>
      <vt:lpstr>Arial</vt:lpstr>
      <vt:lpstr>Bahnschrift SemiBold SemiConden</vt:lpstr>
      <vt:lpstr>Bell MT</vt:lpstr>
      <vt:lpstr>Calibri</vt:lpstr>
      <vt:lpstr>Tw Cen MT</vt:lpstr>
      <vt:lpstr>Wingdings</vt:lpstr>
      <vt:lpstr>Circuit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a.nongkouni@reimegroup.com</dc:creator>
  <cp:lastModifiedBy>DELL</cp:lastModifiedBy>
  <cp:revision>192</cp:revision>
  <dcterms:created xsi:type="dcterms:W3CDTF">2018-09-19T18:09:52Z</dcterms:created>
  <dcterms:modified xsi:type="dcterms:W3CDTF">2026-04-22T12:57:22Z</dcterms:modified>
</cp:coreProperties>
</file>